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5"/>
    <p:sldId id="265" r:id="rId4"/>
    <p:sldId id="266" r:id="rId3"/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4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E9A8C-3F50-49F8-A835-316C22A1110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3F9-2D09-4642-A3BD-5BF627A067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16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FE64-7CE6-4299-B8FE-939866A3E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4360C-492F-4E2E-B967-599B2BD31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0CDB-78C3-4602-B35C-A826CBF2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5EF81-E96A-4C8D-A4F0-A9DF05C4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2448-68BE-42AE-8001-48ECE62D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0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5E08-CE8A-45BE-8C3E-C04A49CC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CCB0C-95AB-4F7A-955D-2DC18750B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DA85-2FDE-4136-B9F6-AF096547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B0367-ACE7-48B9-82C8-A7BFD1F9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9A210-6017-4F71-9E78-B2C329B4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2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E6C5-6752-4963-B842-280808B2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A6DFC-697D-4605-86C0-8572E022B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41469-A18C-498E-BACC-28BCBFE9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5D3B-1983-426F-A1AE-7470C43B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ABB1-45F2-4FEA-BB5A-3B053892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53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F4AE-F142-401B-A5D1-4A52FF92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9BD1-2876-4C52-83CF-1CBA9D931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624D8-76A7-478F-ACA3-5749DEFD0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9A939-0957-4E96-B38D-0B2E39D4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D44E1-B8BA-490F-B30A-538CC4D4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4BB79-7CA5-414E-B5B6-6A8E9AEE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5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6CE8-8BA4-4FB1-ACAA-E38F8ED7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70902-F321-482A-924A-FF9A87CA5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B6F67-E437-4FE8-851B-B016F33CF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E7897-2D17-49F8-8762-68F8D5794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AE8E8-43BB-400D-8934-6D6B21D3A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B6608-03F3-45EF-80BD-C6E305C0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5D75D-3AD4-4D0E-A5BC-9000973F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6A546-DC61-467F-A112-3AC0277B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6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8549-E392-4F05-B762-B5370E51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59880-A67D-4A24-9138-E937AE75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F6EC7-BFAB-4137-9343-C66B7829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6B929-B579-4261-8171-35357AE9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9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AFEDF-BA35-4A7C-9388-604C048D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80271-5700-43CC-A9BA-B2AAB47B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712EA-BE6D-4AE5-B09E-215DE5B0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7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6235-A416-4C23-BE8E-8FC1CF0E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C36B-7DDF-4371-9F0A-6E5B64554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FA19A-E15E-47EA-B9B9-5F7FD0AA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84724-CA93-4332-A03F-0909AC52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3302F-D853-499A-BB91-3BD5366E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AD427-BF9D-4A47-AF08-E4983B90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8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B540-7747-44F5-A3A4-69F051F3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392B5-0943-4B18-9708-C9FA86F83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FA04-BB4C-4DC0-9831-EB32549F5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BDBD-01E1-44D7-AB93-513FF196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D7BDB-9CCD-44F3-A4FB-D4BAE589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C8D8A-A70C-4D57-8271-DCF5EEFC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3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63EB-C66D-4D2D-9928-25D57CFD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1A17B-5319-4265-82A2-5D286CFAF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72F85-7902-4426-947E-3509F7A0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658F-7DA3-40F3-B6FA-CF740F85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B0DE9-130B-4DA8-9A0C-06A295C9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95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594E2-CBC8-4A0C-A110-E3B5A301C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BD2EA-CB7C-4CAB-855D-57F791910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348B0-3CBB-41FA-A8EC-5DFC833D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08DA-D399-4DC8-89B1-C4EBC64D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A6177-D647-4C5F-BA43-C02A1390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687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34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67A62-7E64-4BE9-8EDF-4904E871A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A73B9-1A82-4479-978C-9C873CC67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77FC6-3D78-48A7-A3DB-BFC7C0EA3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DC877-1137-446E-919A-C66E31331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58D39-C9B6-4DA9-9C05-38A0ECD4C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17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D28D9"/>
                </a:solidFill>
                <a:latin typeface="Arial"/>
              </a:defRPr>
            </a:pPr>
            <a:r>
              <a:t>SAMSUNG PRISM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 i="0">
                <a:solidFill>
                  <a:srgbClr val="14142B"/>
                </a:solidFill>
                <a:latin typeface="Arial"/>
              </a:defRPr>
            </a:pPr>
            <a: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 i="0">
                <a:solidFill>
                  <a:srgbClr val="6D28D9"/>
                </a:solidFill>
                <a:latin typeface="Arial"/>
              </a:defRPr>
            </a:pPr>
            <a:r>
              <a:t>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142B"/>
                </a:solidFill>
                <a:latin typeface="Arial"/>
              </a:rPr>
              <a:t>3rd Edition</a:t>
            </a:r>
            <a:r>
              <a:rPr sz="2000">
                <a:solidFill>
                  <a:srgbClr val="63637E"/>
                </a:solidFill>
                <a:latin typeface="Calibri"/>
              </a:rPr>
              <a:t>   2026 –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Theme ID - 3 (Teachable Voice Automation)</a:t>
            </a:r>
          </a:p>
          <a:p>
            <a:pPr algn="l">
              <a:spcAft>
                <a:spcPts val="3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Team Name - CoreCryshalis</a:t>
            </a:r>
          </a:p>
          <a:p>
            <a:pPr algn="l">
              <a:spcAft>
                <a:spcPts val="3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College Name - VIT Vellore</a:t>
            </a:r>
          </a:p>
          <a:p>
            <a:pPr algn="l">
              <a:spcAft>
                <a:spcPts val="3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Member Name &amp; Email 1 - Divyam Pandey (23BDS0139)</a:t>
            </a:r>
          </a:p>
          <a:p>
            <a:pPr algn="l">
              <a:spcAft>
                <a:spcPts val="3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Member Name &amp; Email 2 - Rishit Chaudhary (23BCT0157)</a:t>
            </a:r>
          </a:p>
          <a:p>
            <a:pPr algn="l">
              <a:spcAft>
                <a:spcPts val="3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Member Name &amp; Email 3 - Shreya Sundli (24BCE2546)</a:t>
            </a:r>
          </a:p>
          <a:p>
            <a:pPr algn="l">
              <a:spcAft>
                <a:spcPts val="3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Member Name &amp; Email 4 - Swardnim Jain (23BKT0110)</a:t>
            </a:r>
          </a:p>
          <a:p>
            <a:pPr algn="l">
              <a:spcAft>
                <a:spcPts val="3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Submission Github link - github.com/rizzit17/sayso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D28D9"/>
                </a:solidFill>
                <a:latin typeface="Calibri"/>
              </a:defRPr>
            </a:pPr>
            <a:r>
              <a:t>SaySo | Teachable Voice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04EA6"/>
                </a:solidFill>
                <a:latin typeface="Calibri"/>
              </a:defRPr>
            </a:pPr>
            <a:r>
              <a:t>Theme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3716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4142B"/>
                </a:solidFill>
                <a:latin typeface="Calibri"/>
              </a:defRPr>
            </a:pPr>
            <a:r>
              <a:t>• Theme 3: Teachable Voice Automation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Build an Android app that learns multi-step UI tasks from a single voice + tap demonstration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Replay learned workflows autonomously via paraphrased voice commands with dynamic parameters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Handle UI drift, popups, and layout changes through semantic matching (not coordinates)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Guarantee zero touches on payment/credential screens with defense-in-depth safety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Support cross-app generalization — patterns learned in one app transfer to others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04EA6"/>
                </a:solidFill>
                <a:latin typeface="Calibri"/>
              </a:defRPr>
            </a:pPr>
            <a:r>
              <a:t>Existing Solutions &amp;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3716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4142B"/>
                </a:solidFill>
                <a:latin typeface="Calibri"/>
              </a:defRPr>
            </a:pPr>
            <a:r>
              <a:t>Current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Siri / Google Assistant — pre-built intents only, no user-teachable flows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Tasker / MacroDroid — coordinate-based, breaks on any UI change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App-specific SDKs — require developer cooperation, no cross-app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RPA tools (UIPath) — enterprise desktop focus, no mobile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4142B"/>
                </a:solidFill>
                <a:latin typeface="Calibri"/>
              </a:defRPr>
            </a:pPr>
            <a:r>
              <a:t>Critical Gaps We 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No user-teachable learning — SaySo learns from a single demonstration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Coordinate fragility — our 8-signal semantic matcher is immune to layout changes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No payment safety — SaySo enforces 5-layer zero-touch boundary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No cross-app transfer — domain concepts generalize across apps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No recovery — 5-stage self-healing handles drift &amp; popups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04EA6"/>
                </a:solidFill>
                <a:latin typeface="Calibri"/>
              </a:defRPr>
            </a:pPr>
            <a:r>
              <a:t>Our Solution &amp; Architecture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3716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4142B"/>
                </a:solidFill>
                <a:latin typeface="Calibri"/>
              </a:defRPr>
            </a:pPr>
            <a:r>
              <a:t>SaySo — Zero-SDK Cross-App Semantic Agent with Strict Zero-Touch Payment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TEACH Mode: User speaks instruction → performs taps once → system records Accessibility tree events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Workflow Generalizer: Raw actions → filtered (IrrelevantActionFilter) → parameterized semantic workflow with slot extraction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REPLAY Mode: Voice command → IntentMatcher (Jaccard + Levenshtein) → SlotExtractor → ParameterBinder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Execution: ActionExecutor → SemanticUiMatcher (8 signals) → state verification → RecoveryManager (5 stages)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Safety: CredentialBoundaryDetector (5 layers) → immediate halt before payment/OTP/credential screens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486400"/>
            <a:ext cx="2926080" cy="7315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D28D9"/>
                </a:solidFill>
                <a:latin typeface="Calibri"/>
              </a:defRPr>
            </a:pPr>
            <a:r>
              <a:t>100% Native Android</a:t>
            </a:r>
            <a:br/>
            <a:r>
              <a:t>Zero SDKs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5486400"/>
            <a:ext cx="2926080" cy="7315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577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D28D9"/>
                </a:solidFill>
                <a:latin typeface="Calibri"/>
              </a:defRPr>
            </a:pPr>
            <a:r>
              <a:t>84/84 Tests Passing</a:t>
            </a:r>
            <a:br/>
            <a:r>
              <a:t>Full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5486400"/>
            <a:ext cx="2926080" cy="7315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77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D28D9"/>
                </a:solidFill>
                <a:latin typeface="Calibri"/>
              </a:defRPr>
            </a:pPr>
            <a:r>
              <a:t>0 Payment Touches</a:t>
            </a:r>
            <a:br/>
            <a:r>
              <a:t>5-Layer Guard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04EA6"/>
                </a:solidFill>
                <a:latin typeface="Calibri"/>
              </a:defRPr>
            </a:pPr>
            <a:r>
              <a:t>Demo &amp; Product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3716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142B"/>
                </a:solidFill>
                <a:latin typeface="Calibri"/>
              </a:defRPr>
            </a:pPr>
            <a:r>
              <a:t>• Step 1 — Voice Activation: User taps SaySo voice orb and speaks: "Order a Margherita Pizza from Domino's"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Step 2 — TEACH Mode: SaySo activates HUD overlay, records each tap on the Accessibility tree (not coordinates)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Step 3 — Workflow Storage: Actions are filtered, generalized, parameterized, and stored in Room SQLite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Step 4 — REPLAY: User says "Order garlic bread from Domino's" → IntentMatcher identifies same workflow, SlotExtractor swaps {item}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Step 5 — Autonomous Execution: ActionExecutor replays steps, SemanticUiMatcher finds elements, RecoveryManager handles drift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Step 6 — Payment Boundary: CredentialBoundaryDetector halts at checkout, hands control to user with alert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3637E"/>
                </a:solidFill>
                <a:latin typeface="Calibri"/>
              </a:defRPr>
            </a:pPr>
            <a:r>
              <a:t>Demo Video: [YouTube / Drive link] (max 5 minutes, unedited, in evaluation order)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04EA6"/>
                </a:solidFill>
                <a:latin typeface="Calibri"/>
              </a:defRPr>
            </a:pPr>
            <a:r>
              <a:t>Tools and Tech Stack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3716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D28D9"/>
                </a:solidFill>
                <a:latin typeface="Calibri"/>
              </a:defRPr>
            </a:pPr>
            <a:r>
              <a:t>Platform &amp;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Kotlin 2.0.21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Android 14 (API 34)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Jetpack Compose + Material 3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Kotlin Coroutines &amp;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D28D9"/>
                </a:solidFill>
                <a:latin typeface="Calibri"/>
              </a:defRPr>
            </a:pPr>
            <a:r>
              <a:t>Core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AccessibilityService (native)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AccessibilityNodeInfo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performAction / dispatchGesture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Room SQLite v2.6.1 + KSP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D28D9"/>
                </a:solidFill>
                <a:latin typeface="Calibri"/>
              </a:defRPr>
            </a:pPr>
            <a:r>
              <a:t>Architecture &amp;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MVVM + Repository Pattern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84 JUnit tests (100% pass)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Proguard R8 minification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Zero third-party SDKs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846320"/>
            <a:ext cx="10515600" cy="109728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4142B"/>
                </a:solidFill>
                <a:latin typeface="Calibri"/>
              </a:defRPr>
            </a:pPr>
            <a:r>
              <a:t>Zero-SDK Footprint: No app-specific proprietary SDKs, no deep links, no web fallbacks.</a:t>
            </a:r>
            <a:br/>
            <a:r>
              <a:t>Strictly Android native Accessibility APIs. 100% private, on-device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04EA6"/>
                </a:solidFill>
                <a:latin typeface="Calibri"/>
              </a:defRPr>
            </a:pPr>
            <a:r>
              <a:t>Impact &amp;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3716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4142B"/>
                </a:solidFill>
                <a:latin typeface="Calibri"/>
              </a:defRPr>
            </a:pPr>
            <a:r>
              <a:t>Who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Elderly users — automate complex app flows with simple voice commands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Accessibility users — vision/motor impaired users gain full app automation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Power users — eliminate repetitive multi-step tasks across any app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Non-technical users — no coding, just teach once and replay 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4142B"/>
                </a:solidFill>
                <a:latin typeface="Calibri"/>
              </a:defRPr>
            </a:pPr>
            <a:r>
              <a:t>Real-World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Food ordering — teach Domino's once, replay with any item/quantity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E-commerce — search + add to cart on Amazon with slot substitution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Banking — navigate to balance check (stops at credential screens)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• Cross-app workflows — patterns transfer between Domino's ↔ Amazon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029200"/>
            <a:ext cx="10515600" cy="11887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4142B"/>
                </a:solidFill>
                <a:latin typeface="Calibri"/>
              </a:defRPr>
            </a:pPr>
            <a:r>
              <a:t>Potential Impact: Reduces 15-20 tap workflows to a single voice command.</a:t>
            </a:r>
            <a:br/>
            <a:r>
              <a:t>Avg step dispatch &lt; 400ms  ·  End-to-end replay &lt; 10s  ·  Peak heap &lt; 85MB  ·  Works on ANY Android app without developer cooperation.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04EA6"/>
                </a:solidFill>
                <a:latin typeface="Calibri"/>
              </a:defRPr>
            </a:pPr>
            <a:r>
              <a:t>Innovation Highlights, Results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3716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D28D9"/>
                </a:solidFill>
                <a:latin typeface="Calibri"/>
              </a:defRPr>
            </a:pPr>
            <a:r>
              <a:t>Key Innovations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8-Signal Semantic UI Matcher — immune to layout drift, theme changes, dynamic content</a:t>
            </a:r>
          </a:p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5-Layer Payment Boundary — zero touches on payment/credential screens guaranteed</a:t>
            </a:r>
          </a:p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5-Stage Self-Healing Recovery — handles popups, reordering, text changes autonomously</a:t>
            </a:r>
          </a:p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Cross-App Domain Concepts — ADD_TO_CART, SEARCH work across apps without retraining</a:t>
            </a:r>
          </a:p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Parameterized Slot System — same workflow, infinite variations (item, quantity, address)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D28D9"/>
                </a:solidFill>
                <a:latin typeface="Calibri"/>
              </a:defRPr>
            </a:pPr>
            <a:r>
              <a:t>Results &amp;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✔ 84/84 evaluation tests passing (T1-T14, B1-B3 + auxiliary)</a:t>
            </a:r>
          </a:p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✔ Average step dispatch latency &lt; 400ms</a:t>
            </a:r>
          </a:p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✔ End-to-end replay completion &lt; 10 seconds</a:t>
            </a:r>
          </a:p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✔ Zero payment screen touches across all test scenarios</a:t>
            </a:r>
          </a:p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△ Requires Accessibility Service permission (standard for automation)</a:t>
            </a:r>
          </a:p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△ First-time teach requires ~30s user demonstration</a:t>
            </a:r>
          </a:p>
          <a:p>
            <a:pPr>
              <a:spcAft>
                <a:spcPts val="800"/>
              </a:spcAft>
              <a:defRPr sz="1400">
                <a:solidFill>
                  <a:srgbClr val="63637E"/>
                </a:solidFill>
                <a:latin typeface="Calibri"/>
              </a:defRPr>
            </a:pPr>
            <a:r>
              <a:t>• △ Very complex multi-branch flows may need multiple teachings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04EA6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3716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Cloud Workflow Sharing — community-contributed workflows downloadable by other users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On-Device LLM Integration — local language model for richer intent understanding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Multi-Step Conditional Flows — if/else branching based on screen state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Workflow Chaining — combine multiple learned workflows into macro sequences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Samsung Galaxy AI Integration — native integration with Galaxy S series voice features</a:t>
            </a:r>
          </a:p>
          <a:p>
            <a:pPr>
              <a:spcAft>
                <a:spcPts val="800"/>
              </a:spcAft>
              <a:defRPr sz="1800" b="0">
                <a:solidFill>
                  <a:srgbClr val="63637E"/>
                </a:solidFill>
                <a:latin typeface="Calibri"/>
              </a:defRPr>
            </a:pPr>
            <a:r>
              <a:t>• Wear OS Extension — trigger replay workflows from Galaxy Watch voice commands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04EA6"/>
                </a:solidFill>
                <a:latin typeface="Calibri"/>
              </a:defRPr>
            </a:pPr>
            <a:r>
              <a:t>Brownie Points (Differentiation)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3716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200400" cy="18288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D28D9"/>
                </a:solidFill>
                <a:latin typeface="Calibri"/>
              </a:defRPr>
            </a:pPr>
            <a:r>
              <a:t>B1: Irrelevant Action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3637E"/>
                </a:solidFill>
                <a:latin typeface="Calibri"/>
              </a:defRPr>
            </a:pPr>
            <a:r>
              <a:t>IrrelevantActionFilter detects and removes accidental taps, undo actions, and navigation noise during TEACH mode. Only meaningful semantic actions are stored.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828800"/>
            <a:ext cx="3200400" cy="18288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D28D9"/>
                </a:solidFill>
                <a:latin typeface="Calibri"/>
              </a:defRPr>
            </a:pPr>
            <a:r>
              <a:t>B2: Cross-App Generalization (+4 pts)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3637E"/>
                </a:solidFill>
                <a:latin typeface="Calibri"/>
              </a:defRPr>
            </a:pPr>
            <a:r>
              <a:t>Domain Concept mapping (ADD_TO_CART, SEARCH, SELECT) enables workflows to structurally transfer between apps without retraining. Food order patterns work on e-commerce.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828800"/>
            <a:ext cx="3200400" cy="18288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D28D9"/>
                </a:solidFill>
                <a:latin typeface="Calibri"/>
              </a:defRPr>
            </a:pPr>
            <a:r>
              <a:t>B3: Multi-Modal Disambiguation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3637E"/>
                </a:solidFill>
                <a:latin typeface="Calibri"/>
              </a:defRPr>
            </a:pPr>
            <a:r>
              <a:t>ClarificationHandler presents voice + tap options when automation encounters ambiguous state. User can speak clarification or tap a quick-select button.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4142B"/>
                </a:solidFill>
                <a:latin typeface="Calibri"/>
              </a:defRPr>
            </a:pPr>
            <a:r>
              <a:t>Additional Differentiators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Pure native Kotlin — no React Native, no Flutter, no web wrappers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8-signal weighted semantic matching vs. industry-standard coordinate-based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5-layer payment safety exceeds the single-check standard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Sub-400ms step latency — real-time execution experience</a:t>
            </a:r>
          </a:p>
          <a:p>
            <a:pPr>
              <a:spcAft>
                <a:spcPts val="800"/>
              </a:spcAft>
              <a:defRPr sz="1600">
                <a:solidFill>
                  <a:srgbClr val="63637E"/>
                </a:solidFill>
                <a:latin typeface="Calibri"/>
              </a:defRPr>
            </a:pPr>
            <a:r>
              <a:t>• Offline-first Room SQLite — works without internet after setup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04EA6"/>
                </a:solidFill>
                <a:latin typeface="Calibri"/>
              </a:defRPr>
            </a:pPr>
            <a:r>
              <a:t>Checklist — Updated on Public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3716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4142B"/>
                </a:solidFill>
                <a:latin typeface="Calibri"/>
              </a:defRPr>
            </a:pPr>
            <a:r>
              <a:t> ✔  Working prototype code — public GitHub repo (Y)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      github.com/rizzit17/sayso</a:t>
            </a:r>
          </a:p>
          <a:p>
            <a:pPr>
              <a:spcAft>
                <a:spcPts val="800"/>
              </a:spcAft>
              <a:defRPr sz="2200" b="0">
                <a:solidFill>
                  <a:srgbClr val="14142B"/>
                </a:solidFill>
                <a:latin typeface="Calibri"/>
              </a:defRPr>
            </a:pPr>
            <a:r>
              <a:t> ✔  README with reproducible setup instructions (Y)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      Complete README.md with architecture, setup, and test commands</a:t>
            </a:r>
          </a:p>
          <a:p>
            <a:pPr>
              <a:spcAft>
                <a:spcPts val="800"/>
              </a:spcAft>
              <a:defRPr sz="2200" b="0">
                <a:solidFill>
                  <a:srgbClr val="14142B"/>
                </a:solidFill>
                <a:latin typeface="Calibri"/>
              </a:defRPr>
            </a:pPr>
            <a:r>
              <a:t> ✔  Demo video, max 5 minutes (YouTube or Drive link)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      [Insert YouTube/Drive link here]</a:t>
            </a:r>
          </a:p>
          <a:p>
            <a:pPr>
              <a:spcAft>
                <a:spcPts val="800"/>
              </a:spcAft>
              <a:defRPr sz="2200" b="0">
                <a:solidFill>
                  <a:srgbClr val="14142B"/>
                </a:solidFill>
                <a:latin typeface="Calibri"/>
              </a:defRPr>
            </a:pPr>
            <a:r>
              <a:t> ✔  Presentation file (PPT or PDF) (Y)</a:t>
            </a:r>
          </a:p>
          <a:p>
            <a:pPr>
              <a:spcAft>
                <a:spcPts val="800"/>
              </a:spcAft>
              <a:defRPr sz="1600" b="0">
                <a:solidFill>
                  <a:srgbClr val="63637E"/>
                </a:solidFill>
                <a:latin typeface="Calibri"/>
              </a:defRPr>
            </a:pPr>
            <a:r>
              <a:t>      This presentation — VITVellore_CoreCryshalis_Submission.pptx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14142B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6D28D9"/>
                </a:solidFill>
                <a:latin typeface="Calibri"/>
              </a:defRPr>
            </a:pPr>
            <a:r>
              <a:t>Team CoreCryshalis — SaySo | Teachable Voice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3637E"/>
                </a:solidFill>
                <a:latin typeface="Calibri"/>
              </a:defRPr>
            </a:pPr>
            <a:r>
              <a:t>github.com/rizzit17/sayso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3637E"/>
                </a:solidFill>
                <a:latin typeface="Calibri"/>
              </a:defRPr>
            </a:pPr>
            <a:r>
              <a:t>Organised by the Language AI Team and the PRISM Team, Samsung R&amp;D Institute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266</Words>
  <Application>Microsoft Office PowerPoint</Application>
  <PresentationFormat>Widescreen</PresentationFormat>
  <Paragraphs>32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Binny Lakra/PRISM /SRI-Bangalore/Professional/Samsung Electronics</dc:creator>
  <cp:lastModifiedBy>Binny Lakra/PRISM /SRI-Bangalore/Professional/Samsung Electronics</cp:lastModifiedBy>
  <cp:revision>6</cp:revision>
  <dcterms:created xsi:type="dcterms:W3CDTF">2026-09-07T12:01:01Z</dcterms:created>
  <dcterms:modified xsi:type="dcterms:W3CDTF">2026-09-08T10:03:30Z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